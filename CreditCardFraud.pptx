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6D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3E5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2C3E50"/>
                </a:solidFill>
                <a:latin typeface="Arial"/>
              </a:rPr>
              <a:t>Top 5 obeležja (apsolutni gradijent)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Važnost</c:v>
                </c:pt>
              </c:strCache>
            </c:strRef>
          </c:tx>
          <c:spPr>
            <a:solidFill>
              <a:srgbClr val="E0F5F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0F5F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646-4C73-B7FC-E8963BE55055}"/>
              </c:ext>
            </c:extLst>
          </c:dPt>
          <c:dPt>
            <c:idx val="1"/>
            <c:invertIfNegative val="0"/>
            <c:bubble3D val="0"/>
            <c:spPr>
              <a:solidFill>
                <a:srgbClr val="A8DD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646-4C73-B7FC-E8963BE55055}"/>
              </c:ext>
            </c:extLst>
          </c:dPt>
          <c:dPt>
            <c:idx val="2"/>
            <c:invertIfNegative val="0"/>
            <c:bubble3D val="0"/>
            <c:spPr>
              <a:solidFill>
                <a:srgbClr val="5CB8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646-4C73-B7FC-E8963BE55055}"/>
              </c:ext>
            </c:extLst>
          </c:dPt>
          <c:dPt>
            <c:idx val="3"/>
            <c:invertIfNegative val="0"/>
            <c:bubble3D val="0"/>
            <c:spPr>
              <a:solidFill>
                <a:srgbClr val="029E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646-4C73-B7FC-E8963BE55055}"/>
              </c:ext>
            </c:extLst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646-4C73-B7FC-E8963BE5505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V10</c:v>
                </c:pt>
                <c:pt idx="1">
                  <c:v>V12</c:v>
                </c:pt>
                <c:pt idx="2">
                  <c:v>V4</c:v>
                </c:pt>
                <c:pt idx="3">
                  <c:v>Amount</c:v>
                </c:pt>
                <c:pt idx="4">
                  <c:v>V14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</c:v>
                </c:pt>
                <c:pt idx="1">
                  <c:v>58</c:v>
                </c:pt>
                <c:pt idx="2">
                  <c:v>65</c:v>
                </c:pt>
                <c:pt idx="3">
                  <c:v>82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646-4C73-B7FC-E8963BE5505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2366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github.com/anjaperovic/credit-card-frau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0"/>
            <a:ext cx="2194560" cy="219456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64592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61582" y="3272145"/>
            <a:ext cx="5029200" cy="202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Card </a:t>
            </a: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</a:t>
            </a:r>
            <a:endParaRPr lang="en-US" sz="1600" dirty="0"/>
          </a:p>
          <a:p>
            <a:pPr marL="0" indent="0" algn="l">
              <a:buNone/>
            </a:pP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3840480" y="1691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3794760" y="129563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Primena neuronskih mreža za detekciju finansijskih prevara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3840480" y="3246120"/>
            <a:ext cx="4937760" cy="36576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 Perić  2022/0543  ·  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Anja Perović  2022/0391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AD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Struktura prezentacije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1179576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475488" cy="475488"/>
          </a:xfrm>
          <a:prstGeom prst="ellipse">
            <a:avLst/>
          </a:prstGeom>
          <a:solidFill>
            <a:srgbClr val="E0F5F2"/>
          </a:solidFill>
          <a:ln w="12700">
            <a:solidFill>
              <a:srgbClr val="E0F5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2984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 problema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Disbalans klasa i poslovni cilj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514600"/>
            <a:ext cx="4023360" cy="1179576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834640"/>
            <a:ext cx="475488" cy="475488"/>
          </a:xfrm>
          <a:prstGeom prst="ellipse">
            <a:avLst/>
          </a:prstGeom>
          <a:solidFill>
            <a:srgbClr val="E0F5F2"/>
          </a:solidFill>
          <a:ln w="12700">
            <a:solidFill>
              <a:srgbClr val="E0F5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34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7157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Podaci &amp; Preprocesiranje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StandardScaler, SMOTE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931920"/>
            <a:ext cx="4023360" cy="112541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4251960"/>
            <a:ext cx="475488" cy="475488"/>
          </a:xfrm>
          <a:prstGeom prst="ellipse">
            <a:avLst/>
          </a:prstGeom>
          <a:solidFill>
            <a:srgbClr val="E0F5F2"/>
          </a:solidFill>
          <a:ln w="12700">
            <a:solidFill>
              <a:srgbClr val="E0F5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1330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 modela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526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konfiguracija: Sklearn, PyTorch, XGBoost, Autoenkoder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097280"/>
            <a:ext cx="4023360" cy="1179576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417320"/>
            <a:ext cx="475488" cy="475488"/>
          </a:xfrm>
          <a:prstGeom prst="ellipse">
            <a:avLst/>
          </a:prstGeom>
          <a:solidFill>
            <a:srgbClr val="E0F5F2"/>
          </a:solidFill>
          <a:ln w="12700">
            <a:solidFill>
              <a:srgbClr val="E0F5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12984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Trening &amp; Optimizacija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Krive gubitka, hiperparametri, bottleneck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51460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834640"/>
            <a:ext cx="475488" cy="475488"/>
          </a:xfrm>
          <a:prstGeom prst="ellipse">
            <a:avLst/>
          </a:prstGeom>
          <a:solidFill>
            <a:srgbClr val="E0F5F2"/>
          </a:solidFill>
          <a:ln w="12700">
            <a:solidFill>
              <a:srgbClr val="E0F5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834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27157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 &amp; Evaluacija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068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 — komparativna analiza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931920"/>
            <a:ext cx="4023360" cy="112541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4251960"/>
            <a:ext cx="475488" cy="475488"/>
          </a:xfrm>
          <a:prstGeom prst="ellipse">
            <a:avLst/>
          </a:prstGeom>
          <a:solidFill>
            <a:srgbClr val="E0F5F2"/>
          </a:solidFill>
          <a:ln w="12700">
            <a:solidFill>
              <a:srgbClr val="E0F5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41330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Zaključak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4526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Izbor optimalnog modela za realnu primenu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D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Opis problema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97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74C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5819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prevara u skupu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097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46120" y="15819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284.807 transakcija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0515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1097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72200" y="15819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varljivih modela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212848"/>
            <a:ext cx="26517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212848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3042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Ekstreman disbalans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" y="2761488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Regularni modeli ignorišu manjinsku klasu i postižu 99%+ tačnosti proglašavanjem svega legitimnim.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2212848"/>
            <a:ext cx="26517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2212848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23042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Varljiva metrika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10712" y="2761488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je beskorisna. Fokus mora biti na Precision, Recall i F1-Score isključivo za klasu prevara.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2212848"/>
            <a:ext cx="26517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2212848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6792" y="23042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Poslovni kompromis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36792" y="2761488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Uhvatiti svaku prevaru ili ne blokirati legitimne korisnike — dijametralno suprotni ciljevi u realnom sistemu.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D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PODACI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Podaci &amp; Preprocesiranje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0F5F2"/>
          </a:solidFill>
          <a:ln w="12700">
            <a:solidFill>
              <a:srgbClr val="E0F5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284.807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transakcija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24128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0F5F2"/>
          </a:solidFill>
          <a:ln w="12700">
            <a:solidFill>
              <a:srgbClr val="E0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0515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1463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prevara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024128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0F5F2"/>
          </a:solidFill>
          <a:ln w="12700">
            <a:solidFill>
              <a:srgbClr val="E0F5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0515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1463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024128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0F5F2"/>
          </a:solidFill>
          <a:ln w="12700">
            <a:solidFill>
              <a:srgbClr val="E0F5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0515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80/20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66560" y="1463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93392"/>
          <a:ext cx="8503920" cy="14630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– V28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(PCA)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Anonimizovane karakteristike transakcije (PCA transformacija)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Sekunde od prve transakcije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Iznos transakcije u eurima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legitimna transakcija, 1 = prevara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320040" y="3886200"/>
            <a:ext cx="40690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7200" y="38862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Stratifikacija  </a:t>
            </a: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 80/20 sa stratify=y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" y="4416552"/>
            <a:ext cx="40690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57200" y="44165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 </a:t>
            </a: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 Time i Amount — V1–V28 već skalirani PCA-om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617720" y="3886200"/>
            <a:ext cx="40690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754880" y="38862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 </a:t>
            </a: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fitovan isključivo na trening skupu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617720" y="4416552"/>
            <a:ext cx="40690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754880" y="44165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(M3, M4)  </a:t>
            </a: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227.451 sintetičkih uzoraka — balans 50:50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D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ARHITEKTURA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 eksperimentalnih konfiguracija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658368" cy="713232"/>
          </a:xfrm>
          <a:prstGeom prst="roundRect">
            <a:avLst>
              <a:gd name="adj" fmla="val 138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0607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Baseline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→ 64 → 16 →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11880" y="1115568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Brz baseline, automatski early stopping, arhitektura levka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8503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28800"/>
            <a:ext cx="658368" cy="713232"/>
          </a:xfrm>
          <a:prstGeom prst="roundRect">
            <a:avLst>
              <a:gd name="adj" fmla="val 1388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828800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18836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Base MLP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→ 64 → 16 →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1938528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BCEWithLogitsLoss, Adam, 20 epoha, potpuna kontrola treninga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51760"/>
            <a:ext cx="8503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651760"/>
            <a:ext cx="658368" cy="713232"/>
          </a:xfrm>
          <a:prstGeom prst="roundRect">
            <a:avLst>
              <a:gd name="adj" fmla="val 1388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651760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" y="27066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SMOTE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stabala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11880" y="2761488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Ansamblovsko učenje, greške ispravlja iterativno, max_depth=6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474720"/>
            <a:ext cx="8503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474720"/>
            <a:ext cx="658368" cy="713232"/>
          </a:xfrm>
          <a:prstGeom prst="roundRect">
            <a:avLst>
              <a:gd name="adj" fmla="val 13889"/>
            </a:avLst>
          </a:prstGeom>
          <a:solidFill>
            <a:srgbClr val="039BE5"/>
          </a:solidFill>
          <a:ln w="12700">
            <a:solidFill>
              <a:srgbClr val="039B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474720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15568" y="35295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SMOTE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15568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39B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→ 64 → 16 → 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11880" y="3584448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 MLP arhitektura, trening na balansiranim SMOTE podacima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297680"/>
            <a:ext cx="8503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297680"/>
            <a:ext cx="658368" cy="713232"/>
          </a:xfrm>
          <a:prstGeom prst="roundRect">
            <a:avLst>
              <a:gd name="adj" fmla="val 13889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297680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15568" y="43525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Autoenkoder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15568" y="4663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30→16→6→3→6→16→30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11880" y="4407408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Nenadgledano — uči normalno, otkriva anomalije rekonstrukcijom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D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TRENING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Trening &amp; Hiperparametarska optimizacija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690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trening petlja (M2, M4)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funkcija: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14813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BCEWithLogitsLoss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1828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(lr = 0.001)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1762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40280" y="21762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 uzoraka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52374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Epohe: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25237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87121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28712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(reproduktivnost)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40690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Autoenkoder (M5)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14813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Epohe: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12280" y="148132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(+ best state čuvanje)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18288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12280" y="18288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MSELoss (greška rekonstrukcije)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1762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regularizacija: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12280" y="217627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weight_decay = 1e-4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5237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scheduler: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12280" y="252374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(patience=3)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8712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12280" y="287121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dimenzije (optimizovano)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493008"/>
            <a:ext cx="8503920" cy="1508760"/>
          </a:xfrm>
          <a:prstGeom prst="roundRect">
            <a:avLst>
              <a:gd name="adj" fmla="val 4848"/>
            </a:avLst>
          </a:prstGeom>
          <a:solidFill>
            <a:srgbClr val="E0F5F2"/>
          </a:solidFill>
          <a:ln w="12700">
            <a:solidFill>
              <a:srgbClr val="E0F5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547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Hiperparametarska optimizacija — Bottleneck autoenkodera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77056"/>
          <a:ext cx="8503920" cy="1219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Bottleneck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Greška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Napomena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0.606773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0.580401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 optimalan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0.496129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0.460548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niža greška, ali loša detekcija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D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REZULTATI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Komparativna analiza performansi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 metrike odnose se na klasu prevara (Class = 1) na originalnom test skupu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16459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(lažne uzbune)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— Sklearn Baseline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— PyTorch Base MLP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— XGBoost + SMOTE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— PyTorch + SMOTE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— Autoenkoder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127248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5"/>
          <p:cNvSpPr/>
          <p:nvPr/>
        </p:nvSpPr>
        <p:spPr>
          <a:xfrm>
            <a:off x="320040" y="3127248"/>
            <a:ext cx="2651760" cy="64008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" y="3246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Pobednik F1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4632" y="3566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 (0.83)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84632" y="3977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Najbolji balans Precision/Recall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3127248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3127248"/>
            <a:ext cx="2651760" cy="64008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10712" y="3246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Recall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10712" y="3566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 (0.87)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410712" y="3977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Hvata najviše prevara, ali 161 FP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72200" y="3127248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72200" y="3127248"/>
            <a:ext cx="2651760" cy="64008"/>
          </a:xfrm>
          <a:prstGeom prst="round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36792" y="3246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Nenadgledano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36792" y="3566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6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 (0.86 R)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336792" y="3977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Detektuje bez labeled podataka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D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05B · ANALIZA OSETLJIVOSTI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 osetljivosti — Model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gradijenta: meri uticaj svake ulazne promenljive na odluku mreže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298448"/>
          <a:ext cx="45720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074920" y="129844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257800" y="13716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Zašto Amount na 2. mestu?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257800" y="1755648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Prevaranti tipično:
</a:t>
            </a: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Testiraju karticama malim iznosima
• Pokušavaju ekstremno visoke isplate
• Pokazuju neobičan obrazac transakcija
</a:t>
            </a: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je jedini direktno interpretabilan atribut.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74920" y="2761488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E0F5F2"/>
          </a:solidFill>
          <a:ln w="12700">
            <a:solidFill>
              <a:srgbClr val="E0F5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57800" y="28346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Autoenkoder: 41× veća greška za prevare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57800" y="32461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4C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Error  =  18.79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257800" y="363931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Legit Error  =  0.45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257800" y="40416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je bez labeled podataka razvio ekstremnu osetljivost na anomalije.</a:t>
            </a:r>
            <a:endParaRPr lang="en-US" sz="9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EA0EE6BA-7A64-CDD5-1A80-6EC8083707DB}"/>
              </a:ext>
            </a:extLst>
          </p:cNvPr>
          <p:cNvSpPr/>
          <p:nvPr/>
        </p:nvSpPr>
        <p:spPr>
          <a:xfrm>
            <a:off x="732693" y="4459986"/>
            <a:ext cx="4085492" cy="54406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79496E-76A9-A46E-A432-243779B48BD8}"/>
              </a:ext>
            </a:extLst>
          </p:cNvPr>
          <p:cNvSpPr txBox="1"/>
          <p:nvPr/>
        </p:nvSpPr>
        <p:spPr>
          <a:xfrm>
            <a:off x="731520" y="4498848"/>
            <a:ext cx="408549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V14</a:t>
            </a:r>
            <a:r>
              <a:rPr lang="en-US" sz="100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</a:t>
            </a:r>
            <a:r>
              <a:rPr lang="en-US" sz="1000" dirty="0" err="1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ubedljivo</a:t>
            </a:r>
            <a:r>
              <a:rPr lang="en-US" sz="100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000" dirty="0" err="1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najvažniji</a:t>
            </a:r>
            <a:r>
              <a:rPr lang="en-US" sz="100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000" dirty="0" err="1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atribut</a:t>
            </a:r>
            <a:r>
              <a:rPr lang="en-US" sz="100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za </a:t>
            </a:r>
            <a:r>
              <a:rPr lang="en-US" sz="1000" dirty="0" err="1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detekciju</a:t>
            </a:r>
            <a:r>
              <a:rPr lang="en-US" sz="100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(PCA </a:t>
            </a:r>
            <a:r>
              <a:rPr lang="en-US" sz="1000" dirty="0" err="1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komponenta</a:t>
            </a:r>
            <a:r>
              <a:rPr lang="en-US" sz="100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000" dirty="0" err="1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</a:t>
            </a:r>
            <a:r>
              <a:rPr lang="en-US" sz="100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000" dirty="0" err="1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jakim</a:t>
            </a:r>
            <a:r>
              <a:rPr lang="en-US" sz="100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000" dirty="0" err="1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korelacijama</a:t>
            </a:r>
            <a:r>
              <a:rPr lang="en-US" sz="100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000" dirty="0" err="1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</a:t>
            </a:r>
            <a:r>
              <a:rPr lang="en-US" sz="100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000" dirty="0" err="1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originalnim</a:t>
            </a:r>
            <a:r>
              <a:rPr lang="en-US" sz="100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000" dirty="0" err="1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obeležjima</a:t>
            </a:r>
            <a:r>
              <a:rPr lang="en-US" sz="1000" dirty="0">
                <a:solidFill>
                  <a:srgbClr val="5D6D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1000" dirty="0">
              <a:solidFill>
                <a:srgbClr val="5D6D7E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D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DISKUSIJA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Diskusija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690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069080" cy="64008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15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Apsolutni pobednik (F1 = 0.83)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55448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MLP postiže optimalan balans na celom projektu. Svega 14 lažnih uzbuna na 56.864 legitimnih transakcija (0.025%). Idealan za produkcijsku upotrebu gde je operativni trošak lažnih alarma visok.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690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069080" cy="64008"/>
          </a:xfrm>
          <a:prstGeom prst="roundRect">
            <a:avLst/>
          </a:prstGeom>
          <a:solidFill>
            <a:srgbClr val="039BE5"/>
          </a:solidFill>
          <a:ln w="12700">
            <a:solidFill>
              <a:srgbClr val="039B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115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— Najbolji PyTorch model (F1 = 0.75)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19472" y="155448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podiže Recall na 83% uz svega 38 lažnih uzbuna. Bolji izbor kada je bezbednost prioritet, a kapacitet tima za obradu alarma adekvatan.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40690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17520"/>
            <a:ext cx="4069080" cy="64008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1272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Zamka agresivnog balansiranja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" y="356616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pos_weight i preagresivni SMOTE pomeraju granicu odlučivanja previše ka prevarama. M3 generiše 161 lažnu uzbunu — operativno prihvatljivo samo u automatizovanim sistemima.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0690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17520"/>
            <a:ext cx="4069080" cy="64008"/>
          </a:xfrm>
          <a:prstGeom prst="round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1272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Nenadgledani pristup — Naučna vrednost M5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472" y="356616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Autoenkoder je jedini model koji nikada nije video prevaru tokom treninga. Nezamenljiv za detekciju novih, evoluiranih oblika napada. Niska preciznost nije slabost — 1% saobraćaja ide na dodatnu autentifikaciju.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D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ZAKLJUČAK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Zaključak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06070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je varljiva metrika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38988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modeli postižu ~100% Accuracy. Jedine relevantne metrike su Precision, Recall i F1 za klasu prevara.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85039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659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188366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Sofisticiranije ≠ bolje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21284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Baseline postiže najviši F1 (0.83) uprkos svojoj jednostavnosti. Balans arhitekture &gt; složenost.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651760"/>
            <a:ext cx="85039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889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70662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 određuje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03580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Izbor zavisi od poslovnog cilja: max balans → M1; max Recall → M3; novi napadi → M5 Autoenkoder.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Preporučeni model prema poslovnom cilju: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837472"/>
              </p:ext>
            </p:extLst>
          </p:nvPr>
        </p:nvGraphicFramePr>
        <p:xfrm>
          <a:off x="320040" y="3886200"/>
          <a:ext cx="8503920" cy="1219200"/>
        </p:xfrm>
        <a:graphic>
          <a:graphicData uri="http://schemas.openxmlformats.org/drawingml/2006/table">
            <a:tbl>
              <a:tblPr/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Poslovni prioritet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Preporučeni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Maksimalan F1 balans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— Sklearn MLP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Visok Recall, kontrolisani alarmi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— PyTorch + SMOTE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Apsolutna bezbednost (max Recall)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— XGBoost + SMOTE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Detekcija nepoznatih prevara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— Autoenkoder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640080"/>
            <a:ext cx="2560320" cy="2560320"/>
          </a:xfrm>
          <a:prstGeom prst="ellipse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3200400"/>
            <a:ext cx="2011680" cy="201168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73736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914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Hvala na pažnji!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1783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Duboko učenje i neuronske mreže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4937760" cy="36576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4871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00200" y="2487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ULB Credit Card Fraud Detection — Kaggle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2880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60020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file"/>
              </a:rPr>
              <a:t>github.com/anjaperovic/credit-card-fraud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997</Words>
  <Application>Microsoft Office PowerPoint</Application>
  <PresentationFormat>On-screen Show (16:9)</PresentationFormat>
  <Paragraphs>229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</dc:title>
  <dc:subject>PptxGenJS Presentation</dc:subject>
  <dc:creator>PptxGenJS</dc:creator>
  <cp:lastModifiedBy>Iva Peric</cp:lastModifiedBy>
  <cp:revision>4</cp:revision>
  <dcterms:created xsi:type="dcterms:W3CDTF">2026-06-23T22:08:52Z</dcterms:created>
  <dcterms:modified xsi:type="dcterms:W3CDTF">2026-06-23T22:27:36Z</dcterms:modified>
</cp:coreProperties>
</file>